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6858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99" d="100"/>
          <a:sy n="99" d="100"/>
        </p:scale>
        <p:origin x="26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272011"/>
            <a:ext cx="5829300" cy="270594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082310"/>
            <a:ext cx="5143500" cy="187653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4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391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937705"/>
            <a:ext cx="5915025" cy="323310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201393"/>
            <a:ext cx="5915025" cy="17002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60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069042"/>
            <a:ext cx="291465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069042"/>
            <a:ext cx="291465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338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13810"/>
            <a:ext cx="5915025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905318"/>
            <a:ext cx="2901255" cy="93376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839085"/>
            <a:ext cx="2901255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905318"/>
            <a:ext cx="2915543" cy="93376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839085"/>
            <a:ext cx="2915543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722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21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627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18160"/>
            <a:ext cx="2211884" cy="18135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19083"/>
            <a:ext cx="3471863" cy="552344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331720"/>
            <a:ext cx="2211884" cy="43198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12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18160"/>
            <a:ext cx="2211884" cy="18135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19083"/>
            <a:ext cx="3471863" cy="552344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331720"/>
            <a:ext cx="2211884" cy="43198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25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802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13808"/>
            <a:ext cx="1478756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13808"/>
            <a:ext cx="4350544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05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13810"/>
            <a:ext cx="5915025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069042"/>
            <a:ext cx="5915025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203865"/>
            <a:ext cx="154305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77239-3AD1-4818-ADF0-0E18FF0CF020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203865"/>
            <a:ext cx="2314575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203865"/>
            <a:ext cx="154305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AD534-5F19-428F-987E-6A5FEF5C5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25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6DBD5-AD6B-2E3F-5E84-E64E46B3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395B49D7-C6F2-D230-2737-52979AB2F5AF}"/>
              </a:ext>
            </a:extLst>
          </p:cNvPr>
          <p:cNvSpPr/>
          <p:nvPr/>
        </p:nvSpPr>
        <p:spPr>
          <a:xfrm rot="10800000">
            <a:off x="718232" y="2445736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2ED0B617-4BEA-BCD8-F013-5E3100AB1911}"/>
              </a:ext>
            </a:extLst>
          </p:cNvPr>
          <p:cNvSpPr/>
          <p:nvPr/>
        </p:nvSpPr>
        <p:spPr>
          <a:xfrm rot="10800000">
            <a:off x="719026" y="3738443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6D09F2A8-0BC4-E3F8-9B83-02D89DBE1F78}"/>
              </a:ext>
            </a:extLst>
          </p:cNvPr>
          <p:cNvSpPr/>
          <p:nvPr/>
        </p:nvSpPr>
        <p:spPr>
          <a:xfrm rot="10800000">
            <a:off x="718232" y="5030355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D003B986-01E8-DA18-9B8D-084416A8F68A}"/>
              </a:ext>
            </a:extLst>
          </p:cNvPr>
          <p:cNvSpPr/>
          <p:nvPr/>
        </p:nvSpPr>
        <p:spPr>
          <a:xfrm>
            <a:off x="4682443" y="4661213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C265653B-AF11-2070-9CFE-B34ECFC771F4}"/>
              </a:ext>
            </a:extLst>
          </p:cNvPr>
          <p:cNvSpPr/>
          <p:nvPr/>
        </p:nvSpPr>
        <p:spPr>
          <a:xfrm>
            <a:off x="4679267" y="3366487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49861535-9CAA-C0ED-EA91-BD29A1F45359}"/>
              </a:ext>
            </a:extLst>
          </p:cNvPr>
          <p:cNvSpPr/>
          <p:nvPr/>
        </p:nvSpPr>
        <p:spPr>
          <a:xfrm rot="5400000">
            <a:off x="1576387" y="5489936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898DF335-0F1C-3E2B-5987-E11D4F3A5418}"/>
              </a:ext>
            </a:extLst>
          </p:cNvPr>
          <p:cNvSpPr/>
          <p:nvPr/>
        </p:nvSpPr>
        <p:spPr>
          <a:xfrm rot="5400000">
            <a:off x="2896505" y="5489936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7D7B0302-C56A-A17C-33EB-CF6A221BAFF0}"/>
              </a:ext>
            </a:extLst>
          </p:cNvPr>
          <p:cNvSpPr/>
          <p:nvPr/>
        </p:nvSpPr>
        <p:spPr>
          <a:xfrm rot="5400000">
            <a:off x="4216623" y="5489936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A0158633-4ED8-35BB-B840-AE0607B88D73}"/>
              </a:ext>
            </a:extLst>
          </p:cNvPr>
          <p:cNvSpPr/>
          <p:nvPr/>
        </p:nvSpPr>
        <p:spPr>
          <a:xfrm rot="16200000">
            <a:off x="3818843" y="1621668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FF703343-67D3-047A-B212-3471E846D4E6}"/>
              </a:ext>
            </a:extLst>
          </p:cNvPr>
          <p:cNvSpPr/>
          <p:nvPr/>
        </p:nvSpPr>
        <p:spPr>
          <a:xfrm rot="16200000">
            <a:off x="2498725" y="1621668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31738310-7CD9-D628-16E4-03E3ACFB9E61}"/>
              </a:ext>
            </a:extLst>
          </p:cNvPr>
          <p:cNvSpPr/>
          <p:nvPr/>
        </p:nvSpPr>
        <p:spPr>
          <a:xfrm rot="16200000">
            <a:off x="1179400" y="1621668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1C54AE34-07DA-F20B-C7F7-1FC54707A650}"/>
              </a:ext>
            </a:extLst>
          </p:cNvPr>
          <p:cNvSpPr/>
          <p:nvPr/>
        </p:nvSpPr>
        <p:spPr>
          <a:xfrm rot="10800000">
            <a:off x="6067743" y="2440179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41783B05-7395-E337-E79B-B3DD71DE163A}"/>
              </a:ext>
            </a:extLst>
          </p:cNvPr>
          <p:cNvSpPr/>
          <p:nvPr/>
        </p:nvSpPr>
        <p:spPr>
          <a:xfrm rot="10800000">
            <a:off x="5966292" y="3742812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sosceles Triangle 95">
            <a:extLst>
              <a:ext uri="{FF2B5EF4-FFF2-40B4-BE49-F238E27FC236}">
                <a16:creationId xmlns:a16="http://schemas.microsoft.com/office/drawing/2014/main" id="{BEE1AE59-63D7-49A5-6954-CE2CAF159A54}"/>
              </a:ext>
            </a:extLst>
          </p:cNvPr>
          <p:cNvSpPr/>
          <p:nvPr/>
        </p:nvSpPr>
        <p:spPr>
          <a:xfrm rot="16200000">
            <a:off x="5143406" y="5489936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98C308C2-59B5-3E9F-DD2E-823534C28E62}"/>
              </a:ext>
            </a:extLst>
          </p:cNvPr>
          <p:cNvSpPr/>
          <p:nvPr/>
        </p:nvSpPr>
        <p:spPr>
          <a:xfrm rot="16200000">
            <a:off x="5137828" y="3078508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4D2186BF-AA12-5651-2456-547AE8C27A08}"/>
              </a:ext>
            </a:extLst>
          </p:cNvPr>
          <p:cNvSpPr/>
          <p:nvPr/>
        </p:nvSpPr>
        <p:spPr>
          <a:xfrm rot="16200000">
            <a:off x="5138649" y="2728264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Isosceles Triangle 124">
            <a:extLst>
              <a:ext uri="{FF2B5EF4-FFF2-40B4-BE49-F238E27FC236}">
                <a16:creationId xmlns:a16="http://schemas.microsoft.com/office/drawing/2014/main" id="{18945595-ED4F-6B58-A5EE-ECA9E4E99CE9}"/>
              </a:ext>
            </a:extLst>
          </p:cNvPr>
          <p:cNvSpPr/>
          <p:nvPr/>
        </p:nvSpPr>
        <p:spPr>
          <a:xfrm rot="16200000">
            <a:off x="5139528" y="1625663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Isosceles Triangle 126">
            <a:extLst>
              <a:ext uri="{FF2B5EF4-FFF2-40B4-BE49-F238E27FC236}">
                <a16:creationId xmlns:a16="http://schemas.microsoft.com/office/drawing/2014/main" id="{5D56E6EF-9339-696B-3222-CCAF05A5B6D8}"/>
              </a:ext>
            </a:extLst>
          </p:cNvPr>
          <p:cNvSpPr/>
          <p:nvPr/>
        </p:nvSpPr>
        <p:spPr>
          <a:xfrm rot="5400000">
            <a:off x="5597645" y="1443156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Isosceles Triangle 131">
            <a:extLst>
              <a:ext uri="{FF2B5EF4-FFF2-40B4-BE49-F238E27FC236}">
                <a16:creationId xmlns:a16="http://schemas.microsoft.com/office/drawing/2014/main" id="{6B092B0C-10FC-1DCF-4E51-798FA8640FC6}"/>
              </a:ext>
            </a:extLst>
          </p:cNvPr>
          <p:cNvSpPr/>
          <p:nvPr/>
        </p:nvSpPr>
        <p:spPr>
          <a:xfrm rot="5400000">
            <a:off x="4216623" y="4200405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0C6BE98-72BE-B2DC-4EA1-BB30608E13FF}"/>
              </a:ext>
            </a:extLst>
          </p:cNvPr>
          <p:cNvCxnSpPr>
            <a:cxnSpLocks/>
          </p:cNvCxnSpPr>
          <p:nvPr/>
        </p:nvCxnSpPr>
        <p:spPr>
          <a:xfrm>
            <a:off x="2111692" y="3133602"/>
            <a:ext cx="217477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Isosceles Triangle 152">
            <a:extLst>
              <a:ext uri="{FF2B5EF4-FFF2-40B4-BE49-F238E27FC236}">
                <a16:creationId xmlns:a16="http://schemas.microsoft.com/office/drawing/2014/main" id="{0992A409-C09B-A0E9-967A-91D5FA26347F}"/>
              </a:ext>
            </a:extLst>
          </p:cNvPr>
          <p:cNvSpPr/>
          <p:nvPr/>
        </p:nvSpPr>
        <p:spPr>
          <a:xfrm rot="5400000">
            <a:off x="4216171" y="2730714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0A2048-C98B-F47E-343F-0CE2BAB5BAE8}"/>
              </a:ext>
            </a:extLst>
          </p:cNvPr>
          <p:cNvSpPr/>
          <p:nvPr/>
        </p:nvSpPr>
        <p:spPr>
          <a:xfrm>
            <a:off x="4335686" y="1248440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Rosette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spring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growth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E17015-707B-90D3-871B-4D89F86F0410}"/>
              </a:ext>
            </a:extLst>
          </p:cNvPr>
          <p:cNvSpPr/>
          <p:nvPr/>
        </p:nvSpPr>
        <p:spPr>
          <a:xfrm>
            <a:off x="3015568" y="1248440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Rosette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bolting,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flowering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548FAC-CE06-5F17-3F82-A948AA644FB9}"/>
              </a:ext>
            </a:extLst>
          </p:cNvPr>
          <p:cNvSpPr/>
          <p:nvPr/>
        </p:nvSpPr>
        <p:spPr>
          <a:xfrm>
            <a:off x="1695450" y="1248440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Number of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flower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heads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AD32B6-2518-41FA-1625-4778EFE01139}"/>
              </a:ext>
            </a:extLst>
          </p:cNvPr>
          <p:cNvSpPr/>
          <p:nvPr/>
        </p:nvSpPr>
        <p:spPr>
          <a:xfrm>
            <a:off x="375332" y="1248440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Flower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head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height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EBAB62-4124-1D9C-AA96-F87F777B384D}"/>
              </a:ext>
            </a:extLst>
          </p:cNvPr>
          <p:cNvSpPr/>
          <p:nvPr/>
        </p:nvSpPr>
        <p:spPr>
          <a:xfrm>
            <a:off x="375332" y="254035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Number of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seeds per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flower head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970A35-CDC8-3EDD-7C0D-F3C8BD96CC30}"/>
              </a:ext>
            </a:extLst>
          </p:cNvPr>
          <p:cNvSpPr/>
          <p:nvPr/>
        </p:nvSpPr>
        <p:spPr>
          <a:xfrm>
            <a:off x="379142" y="3832264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Wind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dispersal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873109-7C0A-2540-9FC2-1BB86DA53798}"/>
              </a:ext>
            </a:extLst>
          </p:cNvPr>
          <p:cNvSpPr/>
          <p:nvPr/>
        </p:nvSpPr>
        <p:spPr>
          <a:xfrm>
            <a:off x="375332" y="5124176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Ant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dispersal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73D223-953A-FF63-7042-0929279F47AB}"/>
              </a:ext>
            </a:extLst>
          </p:cNvPr>
          <p:cNvSpPr/>
          <p:nvPr/>
        </p:nvSpPr>
        <p:spPr>
          <a:xfrm>
            <a:off x="1695450" y="5124176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Post-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dispersal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predation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2A188D-95CA-12FA-5D83-291B1E68588C}"/>
              </a:ext>
            </a:extLst>
          </p:cNvPr>
          <p:cNvSpPr/>
          <p:nvPr/>
        </p:nvSpPr>
        <p:spPr>
          <a:xfrm>
            <a:off x="3015568" y="5124176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Establish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from seed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16849-E67F-B643-81AC-5669BBB42997}"/>
              </a:ext>
            </a:extLst>
          </p:cNvPr>
          <p:cNvSpPr/>
          <p:nvPr/>
        </p:nvSpPr>
        <p:spPr>
          <a:xfrm>
            <a:off x="4335686" y="5124176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Rosette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size upon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establish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21315A-073A-3896-F1E1-C05047642C32}"/>
              </a:ext>
            </a:extLst>
          </p:cNvPr>
          <p:cNvSpPr/>
          <p:nvPr/>
        </p:nvSpPr>
        <p:spPr>
          <a:xfrm>
            <a:off x="4335686" y="3832264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Rosette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winter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survival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BD619C-2355-268C-6D71-F82F3D607B5A}"/>
              </a:ext>
            </a:extLst>
          </p:cNvPr>
          <p:cNvSpPr/>
          <p:nvPr/>
        </p:nvSpPr>
        <p:spPr>
          <a:xfrm>
            <a:off x="5715000" y="1248440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Entry into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seed bank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5254B8-464B-D71D-A8DF-A3E83D6DD5DE}"/>
              </a:ext>
            </a:extLst>
          </p:cNvPr>
          <p:cNvSpPr/>
          <p:nvPr/>
        </p:nvSpPr>
        <p:spPr>
          <a:xfrm>
            <a:off x="5715000" y="254035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Establish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from seed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bank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A85F75-7F98-9654-2E37-5901FFE22A97}"/>
              </a:ext>
            </a:extLst>
          </p:cNvPr>
          <p:cNvSpPr/>
          <p:nvPr/>
        </p:nvSpPr>
        <p:spPr>
          <a:xfrm>
            <a:off x="5715000" y="3832264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Seed bank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winter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survival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5351B6-8395-BD45-14D3-92E4883B3F8D}"/>
              </a:ext>
            </a:extLst>
          </p:cNvPr>
          <p:cNvSpPr/>
          <p:nvPr/>
        </p:nvSpPr>
        <p:spPr>
          <a:xfrm>
            <a:off x="4335686" y="2540352"/>
            <a:ext cx="822960" cy="822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Death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E9DD492-902D-E5FF-9BA3-762A0A1A294E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786812" y="2071400"/>
            <a:ext cx="0" cy="468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4255E7F-7D3C-DD69-FDD4-27031CED410E}"/>
              </a:ext>
            </a:extLst>
          </p:cNvPr>
          <p:cNvCxnSpPr>
            <a:cxnSpLocks/>
          </p:cNvCxnSpPr>
          <p:nvPr/>
        </p:nvCxnSpPr>
        <p:spPr>
          <a:xfrm>
            <a:off x="786812" y="3366488"/>
            <a:ext cx="0" cy="468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4F1037F-4146-5499-B5C8-2E838EA4427D}"/>
              </a:ext>
            </a:extLst>
          </p:cNvPr>
          <p:cNvCxnSpPr>
            <a:cxnSpLocks/>
          </p:cNvCxnSpPr>
          <p:nvPr/>
        </p:nvCxnSpPr>
        <p:spPr>
          <a:xfrm>
            <a:off x="786812" y="4658400"/>
            <a:ext cx="0" cy="468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91AF78-D99E-4B4E-01FE-A426E289FB7B}"/>
              </a:ext>
            </a:extLst>
          </p:cNvPr>
          <p:cNvCxnSpPr>
            <a:cxnSpLocks/>
          </p:cNvCxnSpPr>
          <p:nvPr/>
        </p:nvCxnSpPr>
        <p:spPr>
          <a:xfrm rot="10800000">
            <a:off x="4748213" y="4664388"/>
            <a:ext cx="0" cy="468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831CF2A-8CBE-D1DA-4926-8132E9780C7F}"/>
              </a:ext>
            </a:extLst>
          </p:cNvPr>
          <p:cNvCxnSpPr>
            <a:cxnSpLocks/>
          </p:cNvCxnSpPr>
          <p:nvPr/>
        </p:nvCxnSpPr>
        <p:spPr>
          <a:xfrm rot="10800000">
            <a:off x="4748212" y="3363312"/>
            <a:ext cx="0" cy="468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F347596-E078-2893-3886-CC3A15F947FD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1198292" y="5535656"/>
            <a:ext cx="4971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6A58734-D3E1-9EFD-7F15-948E86622F08}"/>
              </a:ext>
            </a:extLst>
          </p:cNvPr>
          <p:cNvCxnSpPr>
            <a:cxnSpLocks/>
          </p:cNvCxnSpPr>
          <p:nvPr/>
        </p:nvCxnSpPr>
        <p:spPr>
          <a:xfrm flipV="1">
            <a:off x="2518410" y="5535656"/>
            <a:ext cx="4971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3698E53-6C9D-B210-E99C-71FB671A7636}"/>
              </a:ext>
            </a:extLst>
          </p:cNvPr>
          <p:cNvCxnSpPr>
            <a:cxnSpLocks/>
          </p:cNvCxnSpPr>
          <p:nvPr/>
        </p:nvCxnSpPr>
        <p:spPr>
          <a:xfrm flipV="1">
            <a:off x="3838528" y="5535656"/>
            <a:ext cx="4971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F99E5C3-2B0D-CB8E-20AC-7D39B28076D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38528" y="1667387"/>
            <a:ext cx="4971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9B23FF1-8D05-B135-C51B-E391A68CE30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18410" y="1667387"/>
            <a:ext cx="4971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E62F9C4-DB98-C758-A0ED-F79DDF965F66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93529" y="1667387"/>
            <a:ext cx="4971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78F5365-FEE8-86A5-DCE8-3AC7186319A0}"/>
              </a:ext>
            </a:extLst>
          </p:cNvPr>
          <p:cNvCxnSpPr>
            <a:cxnSpLocks/>
          </p:cNvCxnSpPr>
          <p:nvPr/>
        </p:nvCxnSpPr>
        <p:spPr>
          <a:xfrm flipV="1">
            <a:off x="3429000" y="4882155"/>
            <a:ext cx="0" cy="2511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7FC7A57-AF0D-1419-B50A-DB74D2F98EC9}"/>
              </a:ext>
            </a:extLst>
          </p:cNvPr>
          <p:cNvCxnSpPr>
            <a:cxnSpLocks/>
          </p:cNvCxnSpPr>
          <p:nvPr/>
        </p:nvCxnSpPr>
        <p:spPr>
          <a:xfrm>
            <a:off x="3419476" y="4882155"/>
            <a:ext cx="20391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2622612-2864-F3BF-DBA8-BEB627CD04A2}"/>
              </a:ext>
            </a:extLst>
          </p:cNvPr>
          <p:cNvCxnSpPr>
            <a:cxnSpLocks/>
          </p:cNvCxnSpPr>
          <p:nvPr/>
        </p:nvCxnSpPr>
        <p:spPr>
          <a:xfrm flipV="1">
            <a:off x="5451792" y="1496730"/>
            <a:ext cx="0" cy="33924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F2A8C4-F41D-B0FE-6360-B5C9C77877C9}"/>
              </a:ext>
            </a:extLst>
          </p:cNvPr>
          <p:cNvCxnSpPr>
            <a:cxnSpLocks/>
          </p:cNvCxnSpPr>
          <p:nvPr/>
        </p:nvCxnSpPr>
        <p:spPr>
          <a:xfrm>
            <a:off x="5447080" y="1491173"/>
            <a:ext cx="2651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1E23F3-7244-B0C7-55DA-47E76C13442E}"/>
              </a:ext>
            </a:extLst>
          </p:cNvPr>
          <p:cNvCxnSpPr>
            <a:cxnSpLocks/>
          </p:cNvCxnSpPr>
          <p:nvPr/>
        </p:nvCxnSpPr>
        <p:spPr>
          <a:xfrm>
            <a:off x="6133148" y="2068224"/>
            <a:ext cx="0" cy="468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020B019-21A0-0AAA-497C-F10B199D4777}"/>
              </a:ext>
            </a:extLst>
          </p:cNvPr>
          <p:cNvCxnSpPr>
            <a:cxnSpLocks/>
          </p:cNvCxnSpPr>
          <p:nvPr/>
        </p:nvCxnSpPr>
        <p:spPr>
          <a:xfrm>
            <a:off x="6031697" y="3370857"/>
            <a:ext cx="0" cy="468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F3418BB-19DB-CC91-F46E-5EA78762D2ED}"/>
              </a:ext>
            </a:extLst>
          </p:cNvPr>
          <p:cNvCxnSpPr>
            <a:cxnSpLocks/>
          </p:cNvCxnSpPr>
          <p:nvPr/>
        </p:nvCxnSpPr>
        <p:spPr>
          <a:xfrm flipV="1">
            <a:off x="3421380" y="2068224"/>
            <a:ext cx="7620" cy="2179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343DD8D-80AD-F548-CC0F-A402C465FB51}"/>
              </a:ext>
            </a:extLst>
          </p:cNvPr>
          <p:cNvCxnSpPr>
            <a:cxnSpLocks/>
          </p:cNvCxnSpPr>
          <p:nvPr/>
        </p:nvCxnSpPr>
        <p:spPr>
          <a:xfrm>
            <a:off x="3412808" y="4248150"/>
            <a:ext cx="91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26F35DB1-82D3-2E4E-D449-2FD1FBE35E3D}"/>
              </a:ext>
            </a:extLst>
          </p:cNvPr>
          <p:cNvCxnSpPr>
            <a:cxnSpLocks/>
          </p:cNvCxnSpPr>
          <p:nvPr/>
        </p:nvCxnSpPr>
        <p:spPr>
          <a:xfrm flipV="1">
            <a:off x="5539740" y="2921824"/>
            <a:ext cx="0" cy="26138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8F439D1-58CD-7F84-6A14-5F134284E9BF}"/>
              </a:ext>
            </a:extLst>
          </p:cNvPr>
          <p:cNvCxnSpPr>
            <a:cxnSpLocks/>
          </p:cNvCxnSpPr>
          <p:nvPr/>
        </p:nvCxnSpPr>
        <p:spPr>
          <a:xfrm>
            <a:off x="5530582" y="2921824"/>
            <a:ext cx="182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06BF6A3-A8A2-C981-1744-A114F6EFA706}"/>
              </a:ext>
            </a:extLst>
          </p:cNvPr>
          <p:cNvCxnSpPr>
            <a:cxnSpLocks/>
          </p:cNvCxnSpPr>
          <p:nvPr/>
        </p:nvCxnSpPr>
        <p:spPr>
          <a:xfrm>
            <a:off x="5158646" y="5535656"/>
            <a:ext cx="3892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B8AFEA9-1ED7-D911-0EC3-0FF5D3FFDB6C}"/>
              </a:ext>
            </a:extLst>
          </p:cNvPr>
          <p:cNvCxnSpPr>
            <a:cxnSpLocks/>
          </p:cNvCxnSpPr>
          <p:nvPr/>
        </p:nvCxnSpPr>
        <p:spPr>
          <a:xfrm>
            <a:off x="5619641" y="4255324"/>
            <a:ext cx="914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5C30764-3AAD-12D8-A77A-34C2DE2DFD21}"/>
              </a:ext>
            </a:extLst>
          </p:cNvPr>
          <p:cNvCxnSpPr>
            <a:cxnSpLocks/>
          </p:cNvCxnSpPr>
          <p:nvPr/>
        </p:nvCxnSpPr>
        <p:spPr>
          <a:xfrm flipV="1">
            <a:off x="5629165" y="3120231"/>
            <a:ext cx="0" cy="1143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11F41F7-9736-8A5A-DA50-25C9E5577200}"/>
              </a:ext>
            </a:extLst>
          </p:cNvPr>
          <p:cNvCxnSpPr>
            <a:cxnSpLocks/>
          </p:cNvCxnSpPr>
          <p:nvPr/>
        </p:nvCxnSpPr>
        <p:spPr>
          <a:xfrm flipV="1">
            <a:off x="5628945" y="1842291"/>
            <a:ext cx="0" cy="9418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AF349B3-03A9-37FC-D49C-ADE61AB71E2F}"/>
              </a:ext>
            </a:extLst>
          </p:cNvPr>
          <p:cNvCxnSpPr>
            <a:cxnSpLocks/>
          </p:cNvCxnSpPr>
          <p:nvPr/>
        </p:nvCxnSpPr>
        <p:spPr>
          <a:xfrm>
            <a:off x="5160167" y="3124228"/>
            <a:ext cx="46634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BF8B7A9-54E1-1537-FE67-92A188EE7DA6}"/>
              </a:ext>
            </a:extLst>
          </p:cNvPr>
          <p:cNvCxnSpPr>
            <a:cxnSpLocks/>
          </p:cNvCxnSpPr>
          <p:nvPr/>
        </p:nvCxnSpPr>
        <p:spPr>
          <a:xfrm>
            <a:off x="5156165" y="2776533"/>
            <a:ext cx="46634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2DD1C17-17B8-5110-1393-AFA4E4231B24}"/>
              </a:ext>
            </a:extLst>
          </p:cNvPr>
          <p:cNvCxnSpPr>
            <a:cxnSpLocks/>
          </p:cNvCxnSpPr>
          <p:nvPr/>
        </p:nvCxnSpPr>
        <p:spPr>
          <a:xfrm>
            <a:off x="5620911" y="1838835"/>
            <a:ext cx="914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BF624F36-986E-614B-1B22-71CF45DD8D08}"/>
              </a:ext>
            </a:extLst>
          </p:cNvPr>
          <p:cNvSpPr txBox="1"/>
          <p:nvPr/>
        </p:nvSpPr>
        <p:spPr>
          <a:xfrm>
            <a:off x="2496655" y="5343964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N</a:t>
            </a:r>
            <a:endParaRPr lang="en-US" sz="10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C6615CD-2E5B-1B4C-1A88-936859E086DE}"/>
              </a:ext>
            </a:extLst>
          </p:cNvPr>
          <p:cNvSpPr txBox="1"/>
          <p:nvPr/>
        </p:nvSpPr>
        <p:spPr>
          <a:xfrm>
            <a:off x="3807248" y="5343964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Y</a:t>
            </a:r>
            <a:endParaRPr lang="en-US" sz="10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8292C77-800E-D5DD-B736-909D02C87583}"/>
              </a:ext>
            </a:extLst>
          </p:cNvPr>
          <p:cNvSpPr txBox="1"/>
          <p:nvPr/>
        </p:nvSpPr>
        <p:spPr>
          <a:xfrm>
            <a:off x="6100787" y="2020123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Y</a:t>
            </a:r>
            <a:endParaRPr lang="en-US" sz="10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1377481-A997-8B23-E4D3-0F32DC0AFF84}"/>
              </a:ext>
            </a:extLst>
          </p:cNvPr>
          <p:cNvSpPr txBox="1"/>
          <p:nvPr/>
        </p:nvSpPr>
        <p:spPr>
          <a:xfrm>
            <a:off x="5563165" y="1645072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N</a:t>
            </a:r>
            <a:endParaRPr lang="en-US" sz="10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9AF8EA4-F40A-67C2-0255-CC21F30A1B97}"/>
              </a:ext>
            </a:extLst>
          </p:cNvPr>
          <p:cNvSpPr txBox="1"/>
          <p:nvPr/>
        </p:nvSpPr>
        <p:spPr>
          <a:xfrm>
            <a:off x="5868958" y="3313195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N</a:t>
            </a:r>
            <a:endParaRPr lang="en-US" sz="10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1B4EB98-6EEA-1DCD-765D-7F67E98B0E00}"/>
              </a:ext>
            </a:extLst>
          </p:cNvPr>
          <p:cNvSpPr txBox="1"/>
          <p:nvPr/>
        </p:nvSpPr>
        <p:spPr>
          <a:xfrm>
            <a:off x="5567727" y="2869350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Y</a:t>
            </a:r>
            <a:endParaRPr lang="en-US" sz="10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C87747C-B7C5-B329-7BDF-2CB315508A51}"/>
              </a:ext>
            </a:extLst>
          </p:cNvPr>
          <p:cNvSpPr txBox="1"/>
          <p:nvPr/>
        </p:nvSpPr>
        <p:spPr>
          <a:xfrm>
            <a:off x="5564552" y="4200996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N</a:t>
            </a:r>
            <a:endParaRPr lang="en-US" sz="1000" dirty="0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16BCE8EB-0F37-C632-AD8A-4EF145207278}"/>
              </a:ext>
            </a:extLst>
          </p:cNvPr>
          <p:cNvCxnSpPr>
            <a:cxnSpLocks/>
          </p:cNvCxnSpPr>
          <p:nvPr/>
        </p:nvCxnSpPr>
        <p:spPr>
          <a:xfrm>
            <a:off x="5156165" y="4255324"/>
            <a:ext cx="2011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D3DBB7D-1E50-263E-0C3D-1582D0C5FD7E}"/>
              </a:ext>
            </a:extLst>
          </p:cNvPr>
          <p:cNvCxnSpPr>
            <a:cxnSpLocks/>
          </p:cNvCxnSpPr>
          <p:nvPr/>
        </p:nvCxnSpPr>
        <p:spPr>
          <a:xfrm flipV="1">
            <a:off x="5354475" y="1656650"/>
            <a:ext cx="0" cy="2606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F33D05B-2561-7704-0D1F-7A0665C2E202}"/>
              </a:ext>
            </a:extLst>
          </p:cNvPr>
          <p:cNvCxnSpPr>
            <a:cxnSpLocks/>
          </p:cNvCxnSpPr>
          <p:nvPr/>
        </p:nvCxnSpPr>
        <p:spPr>
          <a:xfrm>
            <a:off x="5163391" y="1665798"/>
            <a:ext cx="182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C69FC230-4749-6C87-859E-E8EB427B58F3}"/>
              </a:ext>
            </a:extLst>
          </p:cNvPr>
          <p:cNvSpPr txBox="1"/>
          <p:nvPr/>
        </p:nvSpPr>
        <p:spPr>
          <a:xfrm>
            <a:off x="4724646" y="3642207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N</a:t>
            </a:r>
            <a:endParaRPr lang="en-US" sz="1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C7E0468-5561-FE20-C6FF-4B288486EE1B}"/>
              </a:ext>
            </a:extLst>
          </p:cNvPr>
          <p:cNvSpPr txBox="1"/>
          <p:nvPr/>
        </p:nvSpPr>
        <p:spPr>
          <a:xfrm>
            <a:off x="3411220" y="2025420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N</a:t>
            </a:r>
            <a:endParaRPr lang="en-US" sz="10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3354D87-B649-4380-878D-346947A750C6}"/>
              </a:ext>
            </a:extLst>
          </p:cNvPr>
          <p:cNvSpPr txBox="1"/>
          <p:nvPr/>
        </p:nvSpPr>
        <p:spPr>
          <a:xfrm>
            <a:off x="2867562" y="1625746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Y</a:t>
            </a:r>
            <a:endParaRPr lang="en-US" sz="10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DBEB183-B76C-8AF9-BF76-BEBA4A32D97A}"/>
              </a:ext>
            </a:extLst>
          </p:cNvPr>
          <p:cNvSpPr txBox="1"/>
          <p:nvPr/>
        </p:nvSpPr>
        <p:spPr>
          <a:xfrm>
            <a:off x="3404870" y="4930285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N</a:t>
            </a:r>
            <a:endParaRPr lang="en-US" sz="1000" dirty="0"/>
          </a:p>
        </p:txBody>
      </p:sp>
      <p:sp>
        <p:nvSpPr>
          <p:cNvPr id="135" name="Isosceles Triangle 134">
            <a:extLst>
              <a:ext uri="{FF2B5EF4-FFF2-40B4-BE49-F238E27FC236}">
                <a16:creationId xmlns:a16="http://schemas.microsoft.com/office/drawing/2014/main" id="{45734C76-7689-2FC8-238E-279B587A5127}"/>
              </a:ext>
            </a:extLst>
          </p:cNvPr>
          <p:cNvSpPr/>
          <p:nvPr/>
        </p:nvSpPr>
        <p:spPr>
          <a:xfrm rot="5400000">
            <a:off x="4219015" y="3081433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0102043-DFD5-0091-B94D-5FF476334AA2}"/>
              </a:ext>
            </a:extLst>
          </p:cNvPr>
          <p:cNvCxnSpPr>
            <a:cxnSpLocks/>
          </p:cNvCxnSpPr>
          <p:nvPr/>
        </p:nvCxnSpPr>
        <p:spPr>
          <a:xfrm flipV="1">
            <a:off x="2121219" y="3133602"/>
            <a:ext cx="0" cy="19995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BA01C64D-B2DA-5F89-504D-68400C3EDFC8}"/>
              </a:ext>
            </a:extLst>
          </p:cNvPr>
          <p:cNvSpPr txBox="1"/>
          <p:nvPr/>
        </p:nvSpPr>
        <p:spPr>
          <a:xfrm>
            <a:off x="2092347" y="4930285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Y</a:t>
            </a:r>
            <a:endParaRPr lang="en-US" sz="10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36B9100-5AC3-9272-2CC5-D22CCD39256A}"/>
              </a:ext>
            </a:extLst>
          </p:cNvPr>
          <p:cNvSpPr txBox="1"/>
          <p:nvPr/>
        </p:nvSpPr>
        <p:spPr>
          <a:xfrm>
            <a:off x="5124810" y="4061893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Y</a:t>
            </a:r>
            <a:endParaRPr lang="en-US" sz="1000" dirty="0"/>
          </a:p>
        </p:txBody>
      </p:sp>
      <p:sp>
        <p:nvSpPr>
          <p:cNvPr id="149" name="Right Bracket 148">
            <a:extLst>
              <a:ext uri="{FF2B5EF4-FFF2-40B4-BE49-F238E27FC236}">
                <a16:creationId xmlns:a16="http://schemas.microsoft.com/office/drawing/2014/main" id="{AD163710-877B-294D-B8B6-8C83B44FC7E7}"/>
              </a:ext>
            </a:extLst>
          </p:cNvPr>
          <p:cNvSpPr/>
          <p:nvPr/>
        </p:nvSpPr>
        <p:spPr>
          <a:xfrm rot="5400000">
            <a:off x="2655059" y="3882667"/>
            <a:ext cx="228600" cy="4788059"/>
          </a:xfrm>
          <a:prstGeom prst="rightBracket">
            <a:avLst>
              <a:gd name="adj" fmla="val 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ight Bracket 149">
            <a:extLst>
              <a:ext uri="{FF2B5EF4-FFF2-40B4-BE49-F238E27FC236}">
                <a16:creationId xmlns:a16="http://schemas.microsoft.com/office/drawing/2014/main" id="{EB9C2BCD-6115-90D5-4CBE-664560600FA4}"/>
              </a:ext>
            </a:extLst>
          </p:cNvPr>
          <p:cNvSpPr/>
          <p:nvPr/>
        </p:nvSpPr>
        <p:spPr>
          <a:xfrm rot="5400000">
            <a:off x="6008823" y="5862017"/>
            <a:ext cx="228600" cy="829673"/>
          </a:xfrm>
          <a:prstGeom prst="rightBracket">
            <a:avLst>
              <a:gd name="adj" fmla="val 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34DCFF8-3AD0-830C-AE37-25B810B32D34}"/>
              </a:ext>
            </a:extLst>
          </p:cNvPr>
          <p:cNvSpPr txBox="1"/>
          <p:nvPr/>
        </p:nvSpPr>
        <p:spPr>
          <a:xfrm>
            <a:off x="5675165" y="6138196"/>
            <a:ext cx="895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i="1" dirty="0"/>
              <a:t>Seed bank</a:t>
            </a:r>
            <a:endParaRPr lang="en-US" sz="1200" i="1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6A5DBB1-EBD4-8B1C-56EC-5FBB7A7EFFC6}"/>
              </a:ext>
            </a:extLst>
          </p:cNvPr>
          <p:cNvSpPr txBox="1"/>
          <p:nvPr/>
        </p:nvSpPr>
        <p:spPr>
          <a:xfrm>
            <a:off x="905022" y="6138196"/>
            <a:ext cx="3778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i="1" dirty="0"/>
              <a:t>Demography and dispersal</a:t>
            </a:r>
            <a:endParaRPr lang="en-US" sz="1200" i="1" dirty="0"/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F3769726-B91D-2063-41AE-74DE5891214E}"/>
              </a:ext>
            </a:extLst>
          </p:cNvPr>
          <p:cNvCxnSpPr>
            <a:cxnSpLocks/>
          </p:cNvCxnSpPr>
          <p:nvPr/>
        </p:nvCxnSpPr>
        <p:spPr>
          <a:xfrm>
            <a:off x="1199907" y="2782883"/>
            <a:ext cx="30632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C437F2DA-1F03-D3F1-71D4-A9423D6E215B}"/>
              </a:ext>
            </a:extLst>
          </p:cNvPr>
          <p:cNvSpPr txBox="1"/>
          <p:nvPr/>
        </p:nvSpPr>
        <p:spPr>
          <a:xfrm>
            <a:off x="1146919" y="2763416"/>
            <a:ext cx="1567320" cy="478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GB" sz="1000" dirty="0"/>
              <a:t>All adults,</a:t>
            </a:r>
          </a:p>
          <a:p>
            <a:pPr>
              <a:lnSpc>
                <a:spcPts val="1000"/>
              </a:lnSpc>
            </a:pPr>
            <a:r>
              <a:rPr lang="en-GB" sz="1000" dirty="0"/>
              <a:t>unviable</a:t>
            </a:r>
          </a:p>
          <a:p>
            <a:pPr>
              <a:lnSpc>
                <a:spcPts val="1000"/>
              </a:lnSpc>
            </a:pPr>
            <a:r>
              <a:rPr lang="en-GB" sz="1000" dirty="0"/>
              <a:t>seeds</a:t>
            </a:r>
            <a:endParaRPr lang="en-US" sz="10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78ACCE1-DC0A-F55C-8088-861A367AF093}"/>
              </a:ext>
            </a:extLst>
          </p:cNvPr>
          <p:cNvSpPr txBox="1"/>
          <p:nvPr/>
        </p:nvSpPr>
        <p:spPr>
          <a:xfrm>
            <a:off x="753667" y="3362999"/>
            <a:ext cx="1135879" cy="328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en-GB" sz="1000" dirty="0"/>
              <a:t>Viable</a:t>
            </a:r>
          </a:p>
          <a:p>
            <a:pPr>
              <a:lnSpc>
                <a:spcPts val="900"/>
              </a:lnSpc>
            </a:pPr>
            <a:r>
              <a:rPr lang="en-GB" sz="1000" dirty="0"/>
              <a:t>seeds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BDB0768-6C99-5C2F-FC9D-8AB1470ADBDE}"/>
              </a:ext>
            </a:extLst>
          </p:cNvPr>
          <p:cNvSpPr/>
          <p:nvPr/>
        </p:nvSpPr>
        <p:spPr>
          <a:xfrm>
            <a:off x="6195214" y="3374032"/>
            <a:ext cx="137160" cy="9144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636653-70F9-B2E9-C064-36EED41A23D6}"/>
              </a:ext>
            </a:extLst>
          </p:cNvPr>
          <p:cNvCxnSpPr>
            <a:cxnSpLocks/>
          </p:cNvCxnSpPr>
          <p:nvPr/>
        </p:nvCxnSpPr>
        <p:spPr>
          <a:xfrm rot="10800000">
            <a:off x="6264159" y="3370857"/>
            <a:ext cx="0" cy="468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4828EE4-226C-1F4D-6DC3-E381BB3CE39C}"/>
              </a:ext>
            </a:extLst>
          </p:cNvPr>
          <p:cNvSpPr txBox="1"/>
          <p:nvPr/>
        </p:nvSpPr>
        <p:spPr>
          <a:xfrm>
            <a:off x="6240611" y="3637083"/>
            <a:ext cx="18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65125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732</TotalTime>
  <Words>76</Words>
  <Application>Microsoft Office PowerPoint</Application>
  <PresentationFormat>Custom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Drees, Trevor</dc:creator>
  <cp:lastModifiedBy>Trevor Drees</cp:lastModifiedBy>
  <cp:revision>6</cp:revision>
  <dcterms:created xsi:type="dcterms:W3CDTF">2024-01-14T16:52:06Z</dcterms:created>
  <dcterms:modified xsi:type="dcterms:W3CDTF">2024-05-19T17:53:28Z</dcterms:modified>
</cp:coreProperties>
</file>